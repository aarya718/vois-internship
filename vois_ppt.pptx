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6" d="100"/>
          <a:sy n="66" d="100"/>
        </p:scale>
        <p:origin x="588" y="4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49"/>
            <a:ext cx="10005678" cy="1005355"/>
          </a:xfrm>
        </p:spPr>
        <p:txBody>
          <a:bodyPr>
            <a:normAutofit fontScale="90000"/>
          </a:bodyPr>
          <a:lstStyle/>
          <a:p>
            <a:r>
              <a:rPr lang="en-GB" sz="3200" dirty="0"/>
              <a:t>   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8" name="TextBox 7">
            <a:extLst>
              <a:ext uri="{FF2B5EF4-FFF2-40B4-BE49-F238E27FC236}">
                <a16:creationId xmlns:a16="http://schemas.microsoft.com/office/drawing/2014/main" id="{6687950E-67EE-5C79-0F41-B3B588C178C9}"/>
              </a:ext>
            </a:extLst>
          </p:cNvPr>
          <p:cNvSpPr txBox="1"/>
          <p:nvPr/>
        </p:nvSpPr>
        <p:spPr>
          <a:xfrm>
            <a:off x="957406" y="3686617"/>
            <a:ext cx="6622797" cy="1754326"/>
          </a:xfrm>
          <a:prstGeom prst="rect">
            <a:avLst/>
          </a:prstGeom>
          <a:noFill/>
        </p:spPr>
        <p:txBody>
          <a:bodyPr wrap="square" rtlCol="0">
            <a:spAutoFit/>
          </a:bodyPr>
          <a:lstStyle/>
          <a:p>
            <a:r>
              <a:rPr lang="en-US" dirty="0"/>
              <a:t>AARYA RAMCHANDRA TARPHE</a:t>
            </a:r>
          </a:p>
          <a:p>
            <a:endParaRPr lang="en-US" dirty="0"/>
          </a:p>
          <a:p>
            <a:r>
              <a:rPr lang="en-US" dirty="0"/>
              <a:t>KONKAN GYANPEETH COLLEGE OF ENGINEERING</a:t>
            </a:r>
          </a:p>
          <a:p>
            <a:endParaRPr lang="en-US" dirty="0"/>
          </a:p>
          <a:p>
            <a:r>
              <a:rPr lang="en-US" b="1" dirty="0"/>
              <a:t>AICTE STU ID : STU66595b86dc18b1717132166 </a:t>
            </a:r>
          </a:p>
          <a:p>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54517" y="2106562"/>
            <a:ext cx="9021546" cy="5131636"/>
          </a:xfrm>
        </p:spPr>
        <p:txBody>
          <a:bodyPr vert="horz" lIns="91440" tIns="45720" rIns="91440" bIns="45720" rtlCol="0" anchor="t">
            <a:normAutofit/>
          </a:bodyPr>
          <a:lstStyle/>
          <a:p>
            <a:r>
              <a:rPr lang="en-US" sz="2800" dirty="0"/>
              <a:t> Agricultural performance changes with different seasons.</a:t>
            </a:r>
          </a:p>
          <a:p>
            <a:r>
              <a:rPr lang="en-US" sz="2800" dirty="0"/>
              <a:t>Factors like rainfall, temperature, irrigation and resources can affect crop performance.</a:t>
            </a:r>
          </a:p>
          <a:p>
            <a:r>
              <a:rPr lang="en-US" sz="2800" dirty="0"/>
              <a:t>The project aims to find seasonal patterns and compare agricultural performance.</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B1DCDEC2-EF2E-C38D-4B23-AA59DCCEB308}"/>
              </a:ext>
            </a:extLst>
          </p:cNvPr>
          <p:cNvSpPr txBox="1"/>
          <p:nvPr/>
        </p:nvSpPr>
        <p:spPr>
          <a:xfrm>
            <a:off x="660399" y="1963554"/>
            <a:ext cx="8826366"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solidFill>
                  <a:schemeClr val="tx1">
                    <a:lumMod val="75000"/>
                    <a:lumOff val="25000"/>
                  </a:schemeClr>
                </a:solidFill>
              </a:rPr>
              <a:t>Analyzed agricultural data from different seasons, crops and regions.</a:t>
            </a:r>
          </a:p>
          <a:p>
            <a:pPr marL="285750" indent="-285750">
              <a:buFont typeface="Arial" panose="020B0604020202020204" pitchFamily="34" charset="0"/>
              <a:buChar char="•"/>
            </a:pPr>
            <a:r>
              <a:rPr lang="en-US" sz="2800" dirty="0">
                <a:solidFill>
                  <a:schemeClr val="tx1">
                    <a:lumMod val="75000"/>
                    <a:lumOff val="25000"/>
                  </a:schemeClr>
                </a:solidFill>
              </a:rPr>
              <a:t>Cleaned and prepared the dataset for analysis.</a:t>
            </a:r>
          </a:p>
          <a:p>
            <a:pPr marL="285750" indent="-285750">
              <a:buFont typeface="Arial" panose="020B0604020202020204" pitchFamily="34" charset="0"/>
              <a:buChar char="•"/>
            </a:pPr>
            <a:r>
              <a:rPr lang="en-US" sz="2800" dirty="0">
                <a:solidFill>
                  <a:schemeClr val="tx1">
                    <a:lumMod val="75000"/>
                    <a:lumOff val="25000"/>
                  </a:schemeClr>
                </a:solidFill>
              </a:rPr>
              <a:t>Compared yield, production, cost, revenue and profit.</a:t>
            </a:r>
          </a:p>
          <a:p>
            <a:pPr marL="285750" indent="-285750">
              <a:buFont typeface="Arial" panose="020B0604020202020204" pitchFamily="34" charset="0"/>
              <a:buChar char="•"/>
            </a:pPr>
            <a:r>
              <a:rPr lang="en-US" sz="2800" dirty="0">
                <a:solidFill>
                  <a:schemeClr val="tx1">
                    <a:lumMod val="75000"/>
                    <a:lumOff val="25000"/>
                  </a:schemeClr>
                </a:solidFill>
              </a:rPr>
              <a:t>Studied the relationship between environmental conditions and crop performance.</a:t>
            </a:r>
          </a:p>
          <a:p>
            <a:pPr marL="285750" indent="-285750">
              <a:buFont typeface="Arial" panose="020B0604020202020204" pitchFamily="34" charset="0"/>
              <a:buChar char="•"/>
            </a:pPr>
            <a:r>
              <a:rPr lang="en-US" sz="2800" dirty="0">
                <a:solidFill>
                  <a:schemeClr val="tx1">
                    <a:lumMod val="75000"/>
                    <a:lumOff val="25000"/>
                  </a:schemeClr>
                </a:solidFill>
              </a:rPr>
              <a:t>Used graphs and statistical analysis to find useful patterns.</a:t>
            </a:r>
            <a:endParaRPr lang="en-IN" sz="2800" dirty="0">
              <a:solidFill>
                <a:schemeClr val="tx1">
                  <a:lumMod val="75000"/>
                  <a:lumOff val="25000"/>
                </a:schemeClr>
              </a:solidFill>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451517" cy="4671219"/>
          </a:xfrm>
        </p:spPr>
        <p:txBody>
          <a:bodyPr>
            <a:normAutofit fontScale="77500" lnSpcReduction="20000"/>
          </a:bodyPr>
          <a:lstStyle/>
          <a:p>
            <a:pPr>
              <a:lnSpc>
                <a:spcPct val="150000"/>
              </a:lnSpc>
            </a:pPr>
            <a:r>
              <a:rPr lang="en-US" sz="3600" dirty="0"/>
              <a:t>Farmers - for better seasonal planning.</a:t>
            </a:r>
          </a:p>
          <a:p>
            <a:pPr>
              <a:lnSpc>
                <a:spcPct val="150000"/>
              </a:lnSpc>
            </a:pPr>
            <a:r>
              <a:rPr lang="en-US" sz="3600" dirty="0"/>
              <a:t>Agricultural departments – for planning and resource management.</a:t>
            </a:r>
          </a:p>
          <a:p>
            <a:pPr>
              <a:lnSpc>
                <a:spcPct val="150000"/>
              </a:lnSpc>
            </a:pPr>
            <a:r>
              <a:rPr lang="en-US" sz="3600" dirty="0"/>
              <a:t>Researchers – for studying agricultural trends.</a:t>
            </a:r>
          </a:p>
          <a:p>
            <a:pPr>
              <a:lnSpc>
                <a:spcPct val="150000"/>
              </a:lnSpc>
            </a:pPr>
            <a:r>
              <a:rPr lang="en-US" sz="3600" dirty="0"/>
              <a:t>Agribusinesses – for understanding production and market performance.</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82803" y="1432560"/>
            <a:ext cx="8604985" cy="5243448"/>
          </a:xfrm>
        </p:spPr>
        <p:txBody>
          <a:bodyPr>
            <a:noAutofit/>
          </a:bodyPr>
          <a:lstStyle/>
          <a:p>
            <a:pPr lvl="1">
              <a:lnSpc>
                <a:spcPct val="150000"/>
              </a:lnSpc>
            </a:pPr>
            <a:r>
              <a:rPr lang="en-IN" sz="2400" dirty="0"/>
              <a:t>Python</a:t>
            </a:r>
          </a:p>
          <a:p>
            <a:pPr lvl="1">
              <a:lnSpc>
                <a:spcPct val="150000"/>
              </a:lnSpc>
            </a:pPr>
            <a:r>
              <a:rPr lang="en-IN" sz="2400" dirty="0"/>
              <a:t>Google </a:t>
            </a:r>
            <a:r>
              <a:rPr lang="en-IN" sz="2400" dirty="0" err="1"/>
              <a:t>Colab</a:t>
            </a:r>
            <a:endParaRPr lang="en-IN" sz="2400" dirty="0"/>
          </a:p>
          <a:p>
            <a:pPr lvl="1">
              <a:lnSpc>
                <a:spcPct val="150000"/>
              </a:lnSpc>
            </a:pPr>
            <a:r>
              <a:rPr lang="en-IN" sz="2400" dirty="0"/>
              <a:t>Pandas  </a:t>
            </a:r>
          </a:p>
          <a:p>
            <a:pPr lvl="1">
              <a:lnSpc>
                <a:spcPct val="150000"/>
              </a:lnSpc>
            </a:pPr>
            <a:r>
              <a:rPr lang="en-IN" sz="2400" dirty="0"/>
              <a:t>NumPy</a:t>
            </a:r>
          </a:p>
          <a:p>
            <a:pPr lvl="1">
              <a:lnSpc>
                <a:spcPct val="150000"/>
              </a:lnSpc>
            </a:pPr>
            <a:r>
              <a:rPr lang="en-IN" sz="2400" dirty="0"/>
              <a:t>Matplotlib  </a:t>
            </a:r>
          </a:p>
          <a:p>
            <a:pPr lvl="1">
              <a:lnSpc>
                <a:spcPct val="150000"/>
              </a:lnSpc>
            </a:pPr>
            <a:r>
              <a:rPr lang="en-IN" sz="2400" dirty="0"/>
              <a:t>Seaborn</a:t>
            </a:r>
          </a:p>
          <a:p>
            <a:pPr lvl="1">
              <a:lnSpc>
                <a:spcPct val="150000"/>
              </a:lnSpc>
            </a:pPr>
            <a:r>
              <a:rPr lang="en-IN" sz="2400" dirty="0"/>
              <a:t>SciPy</a:t>
            </a:r>
          </a:p>
          <a:p>
            <a:pPr lvl="1">
              <a:lnSpc>
                <a:spcPct val="150000"/>
              </a:lnSpc>
            </a:pPr>
            <a:r>
              <a:rPr lang="en-IN" sz="2400" dirty="0"/>
              <a:t>CSV Dataset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F6AC807-B8C4-F11B-44F8-BA95F974D9EA}"/>
              </a:ext>
            </a:extLst>
          </p:cNvPr>
          <p:cNvSpPr txBox="1"/>
          <p:nvPr/>
        </p:nvSpPr>
        <p:spPr>
          <a:xfrm>
            <a:off x="675957" y="1645921"/>
            <a:ext cx="8179285"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tx1">
                    <a:lumMod val="75000"/>
                    <a:lumOff val="25000"/>
                  </a:schemeClr>
                </a:solidFill>
              </a:rPr>
              <a:t>Found differences in agricultural performance across seasons.</a:t>
            </a:r>
          </a:p>
          <a:p>
            <a:pPr marL="457200" indent="-457200">
              <a:buFont typeface="Arial" panose="020B0604020202020204" pitchFamily="34" charset="0"/>
              <a:buChar char="•"/>
            </a:pPr>
            <a:r>
              <a:rPr lang="en-US" sz="2800" dirty="0">
                <a:solidFill>
                  <a:schemeClr val="tx1">
                    <a:lumMod val="75000"/>
                    <a:lumOff val="25000"/>
                  </a:schemeClr>
                </a:solidFill>
              </a:rPr>
              <a:t>Compared yield, production and profit between seasons.</a:t>
            </a:r>
          </a:p>
          <a:p>
            <a:pPr marL="457200" indent="-457200">
              <a:buFont typeface="Arial" panose="020B0604020202020204" pitchFamily="34" charset="0"/>
              <a:buChar char="•"/>
            </a:pPr>
            <a:r>
              <a:rPr lang="en-US" sz="2800" dirty="0">
                <a:solidFill>
                  <a:schemeClr val="tx1">
                    <a:lumMod val="75000"/>
                    <a:lumOff val="25000"/>
                  </a:schemeClr>
                </a:solidFill>
              </a:rPr>
              <a:t>Identified relationships between environmental factors and yield.</a:t>
            </a:r>
          </a:p>
          <a:p>
            <a:pPr marL="457200" indent="-457200">
              <a:buFont typeface="Arial" panose="020B0604020202020204" pitchFamily="34" charset="0"/>
              <a:buChar char="•"/>
            </a:pPr>
            <a:r>
              <a:rPr lang="en-US" sz="2800" dirty="0">
                <a:solidFill>
                  <a:schemeClr val="tx1">
                    <a:lumMod val="75000"/>
                    <a:lumOff val="25000"/>
                  </a:schemeClr>
                </a:solidFill>
              </a:rPr>
              <a:t>Observed differences between crops and regions.</a:t>
            </a:r>
          </a:p>
          <a:p>
            <a:pPr marL="457200" indent="-457200">
              <a:buFont typeface="Arial" panose="020B0604020202020204" pitchFamily="34" charset="0"/>
              <a:buChar char="•"/>
            </a:pPr>
            <a:r>
              <a:rPr lang="en-US" sz="2800" dirty="0">
                <a:solidFill>
                  <a:schemeClr val="tx1">
                    <a:lumMod val="75000"/>
                    <a:lumOff val="25000"/>
                  </a:schemeClr>
                </a:solidFill>
              </a:rPr>
              <a:t>Found some unusual patterns that need further study.</a:t>
            </a:r>
            <a:endParaRPr lang="en-IN" sz="2800" dirty="0">
              <a:solidFill>
                <a:schemeClr val="tx1">
                  <a:lumMod val="75000"/>
                  <a:lumOff val="25000"/>
                </a:schemeClr>
              </a:solidFill>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2"/>
            <a:ext cx="10348516" cy="4757351"/>
          </a:xfrm>
        </p:spPr>
        <p:txBody>
          <a:bodyPr/>
          <a:lstStyle/>
          <a:p>
            <a:pPr marL="0" indent="0">
              <a:buNone/>
            </a:pPr>
            <a:endParaRPr lang="en-IN" dirty="0"/>
          </a:p>
        </p:txBody>
      </p:sp>
      <p:pic>
        <p:nvPicPr>
          <p:cNvPr id="3" name="Picture 2">
            <a:extLst>
              <a:ext uri="{FF2B5EF4-FFF2-40B4-BE49-F238E27FC236}">
                <a16:creationId xmlns:a16="http://schemas.microsoft.com/office/drawing/2014/main" id="{01A68522-7FA6-4A64-4AE2-D2199DBA6C81}"/>
              </a:ext>
            </a:extLst>
          </p:cNvPr>
          <p:cNvPicPr>
            <a:picLocks noChangeAspect="1"/>
          </p:cNvPicPr>
          <p:nvPr/>
        </p:nvPicPr>
        <p:blipFill>
          <a:blip r:embed="rId3"/>
          <a:stretch>
            <a:fillRect/>
          </a:stretch>
        </p:blipFill>
        <p:spPr>
          <a:xfrm>
            <a:off x="675957" y="1361172"/>
            <a:ext cx="11124616" cy="520726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714620" y="1463928"/>
            <a:ext cx="9709539" cy="4705865"/>
          </a:xfrm>
        </p:spPr>
        <p:txBody>
          <a:bodyPr/>
          <a:lstStyle/>
          <a:p>
            <a:pPr marL="0" indent="0">
              <a:buNone/>
            </a:pPr>
            <a:endParaRPr lang="en-IN" dirty="0"/>
          </a:p>
        </p:txBody>
      </p:sp>
      <p:pic>
        <p:nvPicPr>
          <p:cNvPr id="9" name="Picture 8">
            <a:extLst>
              <a:ext uri="{FF2B5EF4-FFF2-40B4-BE49-F238E27FC236}">
                <a16:creationId xmlns:a16="http://schemas.microsoft.com/office/drawing/2014/main" id="{C359C72B-8C3E-503A-17F2-4B8BC9E3A07F}"/>
              </a:ext>
            </a:extLst>
          </p:cNvPr>
          <p:cNvPicPr>
            <a:picLocks noChangeAspect="1"/>
          </p:cNvPicPr>
          <p:nvPr/>
        </p:nvPicPr>
        <p:blipFill>
          <a:blip r:embed="rId3"/>
          <a:stretch>
            <a:fillRect/>
          </a:stretch>
        </p:blipFill>
        <p:spPr>
          <a:xfrm>
            <a:off x="675957" y="1483094"/>
            <a:ext cx="11037988" cy="518186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3" y="1431692"/>
            <a:ext cx="10310015" cy="5040227"/>
          </a:xfrm>
        </p:spPr>
        <p:txBody>
          <a:bodyPr/>
          <a:lstStyle/>
          <a:p>
            <a:pPr marL="0" indent="0">
              <a:buNone/>
            </a:pPr>
            <a:endParaRPr lang="en-IN" dirty="0"/>
          </a:p>
        </p:txBody>
      </p:sp>
      <p:pic>
        <p:nvPicPr>
          <p:cNvPr id="3" name="Picture 2">
            <a:extLst>
              <a:ext uri="{FF2B5EF4-FFF2-40B4-BE49-F238E27FC236}">
                <a16:creationId xmlns:a16="http://schemas.microsoft.com/office/drawing/2014/main" id="{E168BF2D-76A5-7440-D6DA-7E3A2652D789}"/>
              </a:ext>
            </a:extLst>
          </p:cNvPr>
          <p:cNvPicPr>
            <a:picLocks noChangeAspect="1"/>
          </p:cNvPicPr>
          <p:nvPr/>
        </p:nvPicPr>
        <p:blipFill>
          <a:blip r:embed="rId3"/>
          <a:stretch>
            <a:fillRect/>
          </a:stretch>
        </p:blipFill>
        <p:spPr>
          <a:xfrm>
            <a:off x="675958" y="1356347"/>
            <a:ext cx="11095740" cy="513106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3"/>
            <a:ext cx="10708880" cy="4959482"/>
          </a:xfrm>
        </p:spPr>
        <p:txBody>
          <a:bodyPr>
            <a:noAutofit/>
          </a:bodyPr>
          <a:lstStyle/>
          <a:p>
            <a:r>
              <a:rPr lang="en-US" sz="2400" dirty="0"/>
              <a:t>The analysis shows clear differences in agricultural performance between seasons, particularly in economic outcomes and water efficiency. </a:t>
            </a:r>
          </a:p>
          <a:p>
            <a:r>
              <a:rPr lang="en-US" sz="2400" dirty="0"/>
              <a:t>Kharif has the strongest overall performance in this dataset, while Zaid faces weaker profitability. </a:t>
            </a:r>
          </a:p>
          <a:p>
            <a:r>
              <a:rPr lang="en-US" sz="2400" dirty="0"/>
              <a:t>At the same time, crop, irrigation method and state also create important differences.</a:t>
            </a:r>
          </a:p>
          <a:p>
            <a:r>
              <a:rPr lang="en-US" sz="2400" dirty="0"/>
              <a:t>Therefore, the main conclusion is that seasonal agricultural performance should be studied together with crop choice, resource use, environmental conditions and regional factors. </a:t>
            </a:r>
          </a:p>
          <a:p>
            <a:r>
              <a:rPr lang="en-US" sz="2400" dirty="0"/>
              <a:t>The dataset supports useful comparisons and planning insights, but the results describe associations in the available records and should not be interpreted as proof that one factor alone causes the observed outcomes.</a:t>
            </a:r>
            <a:endParaRPr lang="en-IN" sz="2400"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E0339C6-4BF0-3C77-BEE5-41CDA86EFA03}"/>
              </a:ext>
            </a:extLst>
          </p:cNvPr>
          <p:cNvSpPr txBox="1"/>
          <p:nvPr/>
        </p:nvSpPr>
        <p:spPr>
          <a:xfrm>
            <a:off x="885524" y="1684420"/>
            <a:ext cx="9336505"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tx1">
                    <a:lumMod val="75000"/>
                    <a:lumOff val="25000"/>
                  </a:schemeClr>
                </a:solidFill>
              </a:rPr>
              <a:t>Predict crop yield using Machine Learning.</a:t>
            </a:r>
          </a:p>
          <a:p>
            <a:endParaRPr lang="en-US" sz="2800" dirty="0">
              <a:solidFill>
                <a:schemeClr val="tx1">
                  <a:lumMod val="75000"/>
                  <a:lumOff val="25000"/>
                </a:schemeClr>
              </a:solidFill>
            </a:endParaRPr>
          </a:p>
          <a:p>
            <a:pPr marL="457200" indent="-457200">
              <a:buFont typeface="Arial" panose="020B0604020202020204" pitchFamily="34" charset="0"/>
              <a:buChar char="•"/>
            </a:pPr>
            <a:r>
              <a:rPr lang="en-US" sz="2800" dirty="0">
                <a:solidFill>
                  <a:schemeClr val="tx1">
                    <a:lumMod val="75000"/>
                    <a:lumOff val="25000"/>
                  </a:schemeClr>
                </a:solidFill>
              </a:rPr>
              <a:t>Add real-time weather data.</a:t>
            </a:r>
          </a:p>
          <a:p>
            <a:endParaRPr lang="en-US" sz="2800" dirty="0">
              <a:solidFill>
                <a:schemeClr val="tx1">
                  <a:lumMod val="75000"/>
                  <a:lumOff val="25000"/>
                </a:schemeClr>
              </a:solidFill>
            </a:endParaRPr>
          </a:p>
          <a:p>
            <a:pPr marL="457200" indent="-457200">
              <a:buFont typeface="Arial" panose="020B0604020202020204" pitchFamily="34" charset="0"/>
              <a:buChar char="•"/>
            </a:pPr>
            <a:r>
              <a:rPr lang="en-US" sz="2800" dirty="0">
                <a:solidFill>
                  <a:schemeClr val="tx1">
                    <a:lumMod val="75000"/>
                    <a:lumOff val="25000"/>
                  </a:schemeClr>
                </a:solidFill>
              </a:rPr>
              <a:t>Build an interactive dashboard.</a:t>
            </a:r>
          </a:p>
          <a:p>
            <a:endParaRPr lang="en-US" sz="2800" dirty="0">
              <a:solidFill>
                <a:schemeClr val="tx1">
                  <a:lumMod val="75000"/>
                  <a:lumOff val="25000"/>
                </a:schemeClr>
              </a:solidFill>
            </a:endParaRPr>
          </a:p>
          <a:p>
            <a:pPr marL="457200" indent="-457200">
              <a:buFont typeface="Arial" panose="020B0604020202020204" pitchFamily="34" charset="0"/>
              <a:buChar char="•"/>
            </a:pPr>
            <a:r>
              <a:rPr lang="en-US" sz="2800" dirty="0">
                <a:solidFill>
                  <a:schemeClr val="tx1">
                    <a:lumMod val="75000"/>
                    <a:lumOff val="25000"/>
                  </a:schemeClr>
                </a:solidFill>
              </a:rPr>
              <a:t>Develop crop recommendation based on season and conditions.</a:t>
            </a:r>
          </a:p>
          <a:p>
            <a:endParaRPr lang="en-US" sz="2800" dirty="0">
              <a:solidFill>
                <a:schemeClr val="tx1">
                  <a:lumMod val="75000"/>
                  <a:lumOff val="25000"/>
                </a:schemeClr>
              </a:solidFill>
            </a:endParaRPr>
          </a:p>
          <a:p>
            <a:pPr marL="457200" indent="-457200">
              <a:buFont typeface="Arial" panose="020B0604020202020204" pitchFamily="34" charset="0"/>
              <a:buChar char="•"/>
            </a:pPr>
            <a:r>
              <a:rPr lang="en-US" sz="2800" dirty="0">
                <a:solidFill>
                  <a:schemeClr val="tx1">
                    <a:lumMod val="75000"/>
                    <a:lumOff val="25000"/>
                  </a:schemeClr>
                </a:solidFill>
              </a:rPr>
              <a:t>Expand the analysis to more regions and datasets.</a:t>
            </a:r>
            <a:endParaRPr lang="en-IN" sz="2800" dirty="0">
              <a:solidFill>
                <a:schemeClr val="tx1">
                  <a:lumMod val="75000"/>
                  <a:lumOff val="25000"/>
                </a:schemeClr>
              </a:solidFill>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2188489"/>
            <a:ext cx="8862679" cy="1569660"/>
          </a:xfrm>
          <a:prstGeom prst="rect">
            <a:avLst/>
          </a:prstGeom>
          <a:noFill/>
        </p:spPr>
        <p:txBody>
          <a:bodyPr wrap="square">
            <a:spAutoFit/>
          </a:bodyPr>
          <a:lstStyle/>
          <a:p>
            <a:r>
              <a:rPr lang="en-US" sz="3200" dirty="0"/>
              <a:t>https://github.com/Aarya718/VOIS-INTERNSHIP/blob/main/Seasonal_Agriculture_Performance_Analysis.ipynb</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854F1A6-A4B2-41DA-0C1F-E12B7C9A6C9A}"/>
              </a:ext>
            </a:extLst>
          </p:cNvPr>
          <p:cNvPicPr>
            <a:picLocks noChangeAspect="1"/>
          </p:cNvPicPr>
          <p:nvPr/>
        </p:nvPicPr>
        <p:blipFill>
          <a:blip r:embed="rId3"/>
          <a:stretch>
            <a:fillRect/>
          </a:stretch>
        </p:blipFill>
        <p:spPr>
          <a:xfrm>
            <a:off x="675956" y="1665172"/>
            <a:ext cx="8458419" cy="482224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65014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1379</TotalTime>
  <Words>396</Words>
  <Application>Microsoft Office PowerPoint</Application>
  <PresentationFormat>Widescreen</PresentationFormat>
  <Paragraphs>62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   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RAMCHANDRA TARPHE</cp:lastModifiedBy>
  <cp:revision>99</cp:revision>
  <dcterms:created xsi:type="dcterms:W3CDTF">2021-07-11T13:13:15Z</dcterms:created>
  <dcterms:modified xsi:type="dcterms:W3CDTF">2026-09-06T10:59:00Z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